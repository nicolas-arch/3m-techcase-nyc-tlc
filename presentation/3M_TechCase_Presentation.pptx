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68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10"/>
  </p:normalViewPr>
  <p:slideViewPr>
    <p:cSldViewPr snapToGrid="0" snapToObjects="1">
      <p:cViewPr varScale="1">
        <p:scale>
          <a:sx n="60" d="100"/>
          <a:sy n="60" d="100"/>
        </p:scale>
        <p:origin x="53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7864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(~30s). Tese em uma frase: tratei os dados de táxi de NYC como uma cadeia de suprimentos urbana. O briefing não deu problema formal, então escolhi essa lente porque conecta direto com o time de Enterprise Supply Chain da 3M. Pipeline end-to-end na mesma stack da 3M (Fabric + Power BI), 119M de viagens, 5 telas, os 6 features obrigatórios.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(~60s) Decisão de narrativa, não só técnica. Trip = shipment, duração = lead time, zonas = nós de origem/destino, tarifa = custo logístico, anomalia = exception management. Isso deixa a banca de supply chain confortável: tudo que eu mostrar tem tradução direta pro mundo deles.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(~50s) Pipeline end-to-end na stack da 3M: Microsoft Fabric, arquitetura medallion Bronze→Silver→Gold. Os 5 blocos que o briefing pediu pra discutir estão aqui: intake, harmonização, enrichment, modelo e front-end. Cada um vira um slide a seguir.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(~50s) Bronze: 119,1 milhões de viagens de 36 parquets. O desafio real foi schema drift — os arquivos da TLC não batem entre si (VendorID int vs bigint, airport_fee com caixa diferente). Resolvi com schema canônico explícito e cast arquivo a arquivo. Ingestão idempotente. Já achei 663 linhas com data fora do escopo — primeiro sinal de qualidade.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(~50s) Silver: retivemos 97,16% das linhas — e cada descarte tem motivo explícito. Distância ≤ 0 (cancelamentos) e tarifa negativa (estornos) são ~95% dos descartes. As 180 mil anomalias não foram apagadas: ficaram marcadas com flag pra análise na tela de Data Quality. Transparência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(~45s) Enrichment com duas fontes externas. ACS do Census (a obrigatória): renda, população e densidade por borough — pra cruzar demanda com tamanho e riqueza do mercado, é reference data, então snapshot. NOAA: clima diário, operational data, via API com paginação anual. Padrão híbrido API + snapshot conforme a natureza do dado.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(~50s) Gold: star schema clássico, 1 fato e 7 dimensões, com a zona em role-playing (pickup e dropoff). Modelo semântico em DirectLake, zero-copy. Padrão Kimball: todo FK tem COALESCE pra Unknown, então zero chaves órfãs no fato. Modelo feito pra confiança e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(~40s) Os 6 features obrigatórios, todos entregues e cada um com propósito: time intelligence via calc group, field parameters (25 análises em 1 visual), calculation groups, conditional formatting, RLS com 6 roles, e UDFs DAX. Não é checklist — cada um resolve um problema real do relatório.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(~45s) A camada de medidas é onde mora a engenharia analítica. Padrão argmax pra achar o pico real (não a maior hora). Médias ponderadas pela população. Correlação de Pearson escrita em DAX — toque de ciência de dados, nativo. UDFs reusadas ao vivo. E decisões de performance: classificação pesada empurrada pro Gold, modelo fino.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(~30s + DEMO) Aqui eu troco pro Power BI ao vivo. A Página 1 entrega o negócio inteiro em 10 segundos: 3,06 bilhões de receita, +5,7% YoY, lead time previsível de 17,6 min, anomalia saudável de 0,16%. Mostrar os filtros Year/Month/Time View e comentar que o RLS roda por baixo. Demo ~4-5 min navegando as 5 telas.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(~60s) Página 2, demanda: o heat map mostra dois regimes — rush de fim de tarde nos dias úteis e madrugada de fim de semana. 31% da demanda em 4 horas do dia. Página 3, operações: 78% das viagens em 5-30 min, lead time muito consistente — ouro pra forecast. Composição do custo aberta, e o choque tarifário de 2023. UDF rodando ao vivo no KPI de custo por milha.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(~60s) Página 4, a peça obrigatória da fonte externa: Manhattan over-served 4 vezes, Brooklyn sub-servido (oportunidade). Correlação 0,43 — demanda puxada por negócios e turismo, não pela renda do morador. Página 5, governança: 97,16% retido com cada descarte rastreável, anomalia por borough, e o RLS com 6 roles — cada gerente só vê o seu borough. Fecha o 6º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(~60s) O fecho de negócio. Cada achado vira uma decisão de supply chain: lead time estável habilita forecast confiável e menos safety stock; concentração de demanda orienta network design; boroughs sub-servidos = onde expandir; dois perfis de anomalia pedem exception management diferente; e o platô tarifário mostra crescimento por volume, não preço — saudável.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(~40s) Próximos passos pra mostrar visão de produto: refresh em tempo real, enrichment no nível de zona via spatial join, modelo de forecasting de demanda, detecção de anomalia com ML, deploy governado no Fabric e expansão do RLS. E o Part 2 opcional: aplicar o mesmo método a um case do meu portfólio. Fechar com obrigado e abrir pra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31520" y="18745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Segoe UI Light" pitchFamily="34" charset="0"/>
                <a:ea typeface="Segoe UI Light" pitchFamily="34" charset="-122"/>
                <a:cs typeface="Segoe UI Light" pitchFamily="34" charset="-120"/>
              </a:rPr>
              <a:t>Yellow taxi as an urban supply chain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49808" y="288036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End-to-end analytics on Microsoft Fabric + Power BI  ·  2022–2024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886200"/>
            <a:ext cx="2011680" cy="91440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3152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119M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3152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trips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71800" y="3886200"/>
            <a:ext cx="2011680" cy="91440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297180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$3.06B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97180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12080" y="3886200"/>
            <a:ext cx="2011680" cy="91440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521208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521208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452360" y="3886200"/>
            <a:ext cx="2011680" cy="91440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7452360" y="40233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6/6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45236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PBI features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58978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3M Technical Case  —  Enterprise Supply Chain Analytics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Nicolas Augusto  ·  github.com/Nicolas-arch/3m-techcase-nyc-tlc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· 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reframed the dataset as a supply chain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</a:rPr>
              <a:t>No formal problem statement was given.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595959"/>
                </a:solidFill>
              </a:rPr>
              <a:t>So I chose a business lens that maps the taxi operation onto 3M's Enterprise Supply Chain — every metric becomes a logistics concept the audience already reasons about.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417320"/>
          <a:ext cx="5669280" cy="3364992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Taxi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 Semibold" pitchFamily="34" charset="0"/>
                          <a:ea typeface="Segoe UI Semibold" pitchFamily="34" charset="-122"/>
                          <a:cs typeface="Segoe UI Semibold" pitchFamily="34" charset="-120"/>
                        </a:rPr>
                        <a:t>Supply chain</a:t>
                      </a:r>
                      <a:endParaRPr lang="en-US" sz="1250" dirty="0">
                        <a:latin typeface="Segoe UI Semibold" charset="0"/>
                        <a:ea typeface="Segoe UI Semibold" charset="0"/>
                        <a:cs typeface="Segoe UI Semibold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Trip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Shipment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Duration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Lead time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Pickup / dropoff zone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Origin / destination node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Fare + surcharges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Logistics cost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Congestion surcharge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Peak-season surcharge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Anomalous trip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Exception management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9595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Demand by zone × hour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3864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Forecast by DC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6200" marR="76200" marT="25400" marB="2540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· APPROACH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End-to-end on the 3M stack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685800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Intake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 parquets → Delta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15184" y="26060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798064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2935224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935224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Harmonization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935224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+ type + flags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64608" y="26060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47488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184648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184648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Enrichment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5184648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ACS + NOAA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14032" y="26060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296912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7434072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DD7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434072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Model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34072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 schema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363456" y="2606040"/>
            <a:ext cx="201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546336" y="2194560"/>
            <a:ext cx="2084832" cy="1371600"/>
          </a:xfrm>
          <a:prstGeom prst="roundRect">
            <a:avLst>
              <a:gd name="adj" fmla="val 5333"/>
            </a:avLst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9683496" y="23225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DD7E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683496" y="2697480"/>
            <a:ext cx="1810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Front-end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683496" y="306324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BI · 6 pages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" y="4114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Medallion architecture  </a:t>
            </a:r>
            <a:r>
              <a:rPr lang="en-US" sz="13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Bronze → Silver → Gold on Microsoft Fabric Lakehouse (OneLake + Delta) — the same stack 3M uses.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5 pipeline blocks the briefing asked to discuss: </a:t>
            </a:r>
            <a:r>
              <a:rPr lang="en-US" sz="125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Intake · Harmonization · Enrichment · Data Model · Front-end.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DATA INTAKE — BRONZE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Ingesting 3 years of trips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621792" y="1883664"/>
            <a:ext cx="2596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119.1M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21792" y="2670048"/>
            <a:ext cx="259689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trips ingested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74720" y="17373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547872" y="1883664"/>
            <a:ext cx="2596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36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3547872" y="2670048"/>
            <a:ext cx="259689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parquets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4290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2022–2024 · ~1.85 GB · programmatic pull from the TLC public CDN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92240" y="1737360"/>
            <a:ext cx="512064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6492240" y="1737360"/>
            <a:ext cx="82296" cy="3291840"/>
          </a:xfrm>
          <a:prstGeom prst="rect">
            <a:avLst/>
          </a:prstGeom>
          <a:solidFill>
            <a:srgbClr val="F2911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6720840" y="1883664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Challenge: schema drift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6720840" y="2249424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TLC files disagree between months: VendorID INT vs BIGINT, airport_fee vs Airport_fee casing.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Fix: an explicit canonical 19-column schema, case-insensitive lookup and a file-by-file cast — so 36 inconsistent files load as one clean table.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Idempotent ingestion (re-runs don't duplicate). Found 663 rows with out-of-range dates (2001–2026) — an early data-quality signal.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HARMONIZATION — SILVER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Clean, typed, and fully traceable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621792" y="1883664"/>
            <a:ext cx="2596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2A0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97.16%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621792" y="2670048"/>
            <a:ext cx="259689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rows retained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474720" y="1737360"/>
            <a:ext cx="27432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547872" y="1883664"/>
            <a:ext cx="25968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180.1K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3547872" y="2670048"/>
            <a:ext cx="2596896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anomalies flagged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48640" y="342900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Anomalies are flagged, not deleted — kept for the Data Quality page.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1600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2.84% was discarded — every reason traceable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205740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Distance ≤ 0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29600" y="2112264"/>
            <a:ext cx="2651760" cy="29260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10954512" y="205740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2.12M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92240" y="271576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Fare &lt; 0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0" y="2770632"/>
            <a:ext cx="1713637" cy="29260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10016389" y="2715768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1.37M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3374136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Dropoff ≤ Pickup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229600" y="3429000"/>
            <a:ext cx="76301" cy="29260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8379053" y="3374136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61K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4032504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Temporal leak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229600" y="4087368"/>
            <a:ext cx="45720" cy="292608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8348472" y="4032504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663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· ENRICHMENT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Correlating with external sources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82296" cy="32918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8836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 Census — ACS demographics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249424"/>
            <a:ext cx="5120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Median household income, population and density by borough.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required external source: lets us ask whether demand follows the size and wealth of each market.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 data → snapshot pattern (annual refresh).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53035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82296" cy="3291840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537960" y="188366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NOAA — daily weather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249424"/>
            <a:ext cx="4937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Temperature, precipitation, snow per day; weather category + extreme-weather flag, joined onto dim_date.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 data → REST API with yearly pagination.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Gotcha: the NOAA CDO API caps each request at 1 year — fixed with a per-year loop.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· DIMENSIONAL MODEL — GOLD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schema, built for trust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074920" y="2788920"/>
            <a:ext cx="2057400" cy="914400"/>
          </a:xfrm>
          <a:prstGeom prst="rect">
            <a:avLst/>
          </a:prstGeom>
          <a:solidFill>
            <a:srgbClr val="1F3864"/>
          </a:solidFill>
          <a:ln/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074920" y="2907792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fact_trips</a:t>
            </a:r>
            <a:endParaRPr lang="en-US" sz="15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BDD7EE"/>
                </a:solidFill>
              </a:rPr>
              <a:t>115.7M rows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77440" y="173736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237744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dim_date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074920" y="160020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074920" y="1600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dim_time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0" y="173736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77724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dim_zone (PU)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326880" y="297180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932688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dim_zone (DO)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0" y="402336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7772400" y="4023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dim_vendor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74920" y="416052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5074920" y="41605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dim_ratecode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377440" y="4023360"/>
            <a:ext cx="1828800" cy="640080"/>
          </a:xfrm>
          <a:prstGeom prst="roundRect">
            <a:avLst>
              <a:gd name="adj" fmla="val 8571"/>
            </a:avLst>
          </a:prstGeom>
          <a:solidFill>
            <a:srgbClr val="EAF1FB"/>
          </a:solidFill>
          <a:ln w="12700">
            <a:solidFill>
              <a:srgbClr val="BDD7EE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2377440" y="4023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dim_payment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507492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fact + 7 dimensions · role-playing zone (pickup &amp; dropoff)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DirectLake semantic model on the Lakehouse (zero-copy)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Kimball COALESCE → Unknown: zero orphan foreign keys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POWER BI ENGINEERING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6 required features — all delivered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749808" y="18928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49808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61872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Time Intelligence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048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 group 'Time Analytics' (7 items)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25112" y="16916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Shape 8"/>
          <p:cNvSpPr/>
          <p:nvPr/>
        </p:nvSpPr>
        <p:spPr>
          <a:xfrm>
            <a:off x="4526280" y="18928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526280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38344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Field Parameters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53712" y="24048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 × dimension = 25 views in 1 visual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01584" y="16916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5" name="Shape 13"/>
          <p:cNvSpPr/>
          <p:nvPr/>
        </p:nvSpPr>
        <p:spPr>
          <a:xfrm>
            <a:off x="8302752" y="18928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8302752" y="1892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814816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Calculation Groups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30184" y="24048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place, applies to any measure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2918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749808" y="34930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749808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261872" y="3474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Conditional Formatting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7240" y="40050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 map, data bars, dynamic colors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325112" y="32918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5" name="Shape 23"/>
          <p:cNvSpPr/>
          <p:nvPr/>
        </p:nvSpPr>
        <p:spPr>
          <a:xfrm>
            <a:off x="4526280" y="34930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52628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038344" y="3474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Row-Level Security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53712" y="40050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roles · each manager sees its borough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01584" y="3291840"/>
            <a:ext cx="3611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0" name="Shape 28"/>
          <p:cNvSpPr/>
          <p:nvPr/>
        </p:nvSpPr>
        <p:spPr>
          <a:xfrm>
            <a:off x="8302752" y="3493008"/>
            <a:ext cx="384048" cy="384048"/>
          </a:xfrm>
          <a:prstGeom prst="ellipse">
            <a:avLst/>
          </a:prstGeom>
          <a:solidFill>
            <a:srgbClr val="EAF1F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8302752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5B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814816" y="3474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DAX UDFs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30184" y="400507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ClassifyTripDuration · ComputeRevenuePerMile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· THE MEASURE LAYER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Analytics engineering in DAX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82296" cy="7772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777240" y="169164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Argmax in DAX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023360" y="1691640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Peak Hour / Peak Day — not MAX(hour), but the hour that HAS the most trips (TOPN + MAXX).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82296" cy="7772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777240" y="26243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Weighted aggregates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023360" y="2624328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Population-weighted median income — never average the medians.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557016"/>
            <a:ext cx="82296" cy="7772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777240" y="3557016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Pearson correlation in DAX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037648" y="3557016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Demand vs income computed over boroughs — a data-science touch, native.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489704"/>
            <a:ext cx="82296" cy="7772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777240" y="4489704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UDFs reused live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023360" y="4489704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ComputeRevenuePerMile powers a production KPI, not just a demo.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422392"/>
            <a:ext cx="82296" cy="77724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777240" y="5422392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Performance by design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023360" y="5422392"/>
            <a:ext cx="7589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Heavy classification pushed to Gold; the model stays thin (DirectLake-friendly).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DASHBOARD — LIVE DEMO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1 · Executive Overview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966960" y="45720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22A06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996696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LIVE DEMO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62179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2A0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$3.06B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revenue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8892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286207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116M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86207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trips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10235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$26.42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510235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fare / trip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26948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734263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17.6 min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734263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avg lead time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509760" y="1828800"/>
            <a:ext cx="20848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9582912" y="1975104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b="1" dirty="0">
                <a:solidFill>
                  <a:srgbClr val="22A06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0.16%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9582912" y="2761488"/>
            <a:ext cx="1938528" cy="528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anomaly rate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3749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whole business in one screen: $3.06B revenue, +5.7% YoY, predictable 17.6-min lead time, healthy 0.16% anomaly rate.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45720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386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switching to the live report → </a:t>
            </a:r>
            <a:r>
              <a:rPr lang="en-US" sz="125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Year / Month / Time View filters drive every page; RLS applies underneath.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Demand &amp; Operations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82296" cy="402336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8379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2 — Demand Deep Dive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203704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&amp; where demand concentrates (heat map hour × weekday).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Two demand regimes: weekday evening rush + weekend late-night.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31% of all demand in just 4 hours/day → surge capacity.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Peak day is Thursday, not Friday.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Field Parameters let an analyst slice demand 25 ways in one visual.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303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82296" cy="4023360"/>
          </a:xfrm>
          <a:prstGeom prst="rect">
            <a:avLst/>
          </a:prstGeom>
          <a:solidFill>
            <a:srgbClr val="5B9BD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537960" y="18379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3 — Operations &amp; Cost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203704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 time, efficiency and cost-to-serve.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78% of trips take 5–30 min → highly consistent lead time.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Cost-to-serve $26.42 = 69% base fare, 19% surcharges, 12% tip.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2023 fare shock (+33%), then plateau → growth via volume.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UDF ComputeRevenuePerMile powers the cost/mile KPI.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Demographics &amp; Governance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79120" y="174879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82296" cy="402336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8379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4 — Demand vs Demographics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203704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required external source (ACS) correlated with demand.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Manhattan is over-served ~4× (75% of revenue, 19% of population).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Brooklyn is under-served → market opportunity.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Demand–income correlation r = 0.43 (moderate) — demand is driven by business/tourism, not residents.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ABC concentration: 2 boroughs ≈ 93% of revenue.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303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82296" cy="4023360"/>
          </a:xfrm>
          <a:prstGeom prst="rect">
            <a:avLst/>
          </a:prstGeom>
          <a:solidFill>
            <a:srgbClr val="22A06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537960" y="18379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5 — Data Quality &amp; Governance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203704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Trust and access control.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97.16% retained; every discard traceable.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Anomaly rate by borough (Staten Island 0.98% vs Manhattan 0.12%).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Row-Level Security: 6 roles — each manager sees only its borough; global sees all $3.06B.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Closes the 6th required feature.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2E75B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· DASHBOARD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Weather &amp; Operational Risk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82296" cy="4023360"/>
          </a:xfrm>
          <a:prstGeom prst="rect">
            <a:avLst/>
          </a:prstGeom>
          <a:solidFill>
            <a:srgbClr val="2E75B6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83794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6 — Seasonality (NOAA)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77240" y="2203704"/>
            <a:ext cx="5120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2nd external source: NOAA weather joined onto dim_date.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Fall is the stress season: 2nd-highest volume (109k trips/day) with the worst lead time (18.46 min).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+1.71 min vs the winter baseline — high volume × slow cycle = peak cost-to-serve.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Spring is the true volume peak (113k trips/day) but operationally efficient (17.44 min).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Winter = low demand + fastest cycle (16.75 min) → maintenance &amp; capacity window.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1691640"/>
            <a:ext cx="530352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blurRad="101600" dist="38100" dir="8100000" algn="bl" rotWithShape="0">
              <a:srgbClr val="1F3864">
                <a:alpha val="16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82296" cy="4023360"/>
          </a:xfrm>
          <a:prstGeom prst="rect">
            <a:avLst/>
          </a:prstGeom>
          <a:solidFill>
            <a:srgbClr val="22A06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537960" y="183794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F386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Page 6 — Extreme weather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203704"/>
            <a:ext cx="4937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external shocks change the operation?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Only 4 extreme days in 1,096 — but demand drops 36% (106k → 68k trips/day).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Counter-intuitively, lead time gets ~3.8 min faster and the average fare falls.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Demand self-selection: only the essential trips remain, and with less traffic the cycle shortens.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959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Supply-chain parallel: a disruption that cuts volume but reshapes the network.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45566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NYC TLC Yellow Taxi  ·  3M Technical Case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5566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0808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5B9B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· KEY INSIGHTS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Translated to supply-chain decisions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25880" y="160020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Stable lead time (78% in 5–30 min)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086600" y="1600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589520" y="16002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Reliable forecast → lower safety stock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633472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548640" y="26334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25880" y="2542032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Demand concentration (2 boroughs ≈ 93%)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542032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589520" y="2542032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design / capacity placement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575304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3"/>
          <p:cNvSpPr/>
          <p:nvPr/>
        </p:nvSpPr>
        <p:spPr>
          <a:xfrm>
            <a:off x="548640" y="35753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25880" y="3483864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Over- vs under-served boroughs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86600" y="3483864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589520" y="3483864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to expand the market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517136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548640" y="4517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25880" y="4425696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Two anomaly profiles (airports vs core)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4425696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0" y="4425696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Tailored exception management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5458968"/>
            <a:ext cx="548640" cy="548640"/>
          </a:xfrm>
          <a:prstGeom prst="ellipse">
            <a:avLst/>
          </a:prstGeom>
          <a:solidFill>
            <a:srgbClr val="27406E"/>
          </a:solidFill>
          <a:ln w="12700">
            <a:solidFill>
              <a:srgbClr val="5B9BD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48640" y="5458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25880" y="5367528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Seasonal &amp; weather stress (NOAA)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86600" y="5367528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9BD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589520" y="536752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Capacity planning &amp; disruption readiness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5B9BD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· NEXT STEPS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I'd take this next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777240" y="17556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Real-time refresh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84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scheduled pipeline in production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492240" y="17556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Zone-level enrichment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2084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NTA↔zone spatial join (Geopandas)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60604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777240" y="2715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Demand forecasting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3044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time-series per zone/hour, weather-aware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63640" y="260604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6492240" y="271576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Anomaly detection (ML)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92240" y="30449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beyond rule-based flags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56616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777240" y="367588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 &amp; govern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4005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Fabric deployment pipelines + expand RLS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3566160"/>
            <a:ext cx="5440680" cy="822960"/>
          </a:xfrm>
          <a:prstGeom prst="rect">
            <a:avLst/>
          </a:prstGeom>
          <a:solidFill>
            <a:srgbClr val="27406E"/>
          </a:solidFill>
          <a:ln w="12700">
            <a:solidFill>
              <a:srgbClr val="3A5488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6492240" y="367588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Portfolio case (Part 2)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40050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the same method to a real project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48640" y="5029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  ·  Questions?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48640" y="5669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DD7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Nicolas Augusto  ·  github.com/Nicolas-arch/3m-techcase-nyc-tlc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2492</Words>
  <Application>Microsoft Office PowerPoint</Application>
  <PresentationFormat>Widescreen</PresentationFormat>
  <Paragraphs>317</Paragraphs>
  <Slides>15</Slides>
  <Notes>14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Arial</vt:lpstr>
      <vt:lpstr>Segoe UI</vt:lpstr>
      <vt:lpstr>Segoe UI Light</vt:lpstr>
      <vt:lpstr>Segoe UI Semibold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3M Technical Case — NYC TLC Yellow Taxi Analytics</dc:title>
  <dc:subject>PptxGenJS Presentation</dc:subject>
  <dc:creator>Nicolas Augusto</dc:creator>
  <cp:lastModifiedBy>Nicolas Augusto De Almeida Bortoloto</cp:lastModifiedBy>
  <cp:revision>2</cp:revision>
  <dcterms:created xsi:type="dcterms:W3CDTF">2026-06-07T18:46:27Z</dcterms:created>
  <dcterms:modified xsi:type="dcterms:W3CDTF">2026-06-11T10:10:07Z</dcterms:modified>
</cp:coreProperties>
</file>